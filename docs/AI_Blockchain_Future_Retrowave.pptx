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00F0FF"/>
                </a:solidFill>
                <a:effectLst>
                  <a:glow rad="762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▒  A   R E T R O W A V E   T R A N S M I S S I O N  ▒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800" kern="0" dirty="0">
                <a:solidFill>
                  <a:srgbClr val="00F0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FUTURE  OF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effectLst>
                  <a:glow rad="2540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AI  +  BLOCKCHAIN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FFE66D"/>
                </a:solidFill>
                <a:effectLst>
                  <a:glow rad="88900">
                    <a:srgbClr val="FFE66D">
                      <a:alpha val="7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A JOURNEY THROUGH TIME  ·  PROTOCOLS  ·  AGENTS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FROM  DIGITAL  LEDGERS  →  AUTONOMOUS  ECONOMIES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00F0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2026 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◢  TRANSMISSION  LOG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FIVE-PART JOURNEY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solidFill>
            <a:srgbClr val="0A001F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0FF"/>
                </a:solidFill>
                <a:effectLst>
                  <a:glow rad="1270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353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effectLst>
                  <a:glow rad="88900">
                    <a:srgbClr val="00F0FF">
                      <a:alpha val="5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HISTORICAL RETROSPECTIVE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origins — from Turing to Bitcoin to the Transformer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731520" cy="548640"/>
          </a:xfrm>
          <a:prstGeom prst="rect">
            <a:avLst/>
          </a:prstGeom>
          <a:solidFill>
            <a:srgbClr val="0A001F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3911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9FF14"/>
                </a:solidFill>
                <a:effectLst>
                  <a:glow rad="1270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20208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effectLst>
                  <a:glow rad="88900">
                    <a:srgbClr val="39FF14">
                      <a:alpha val="5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CURRENT STATE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compute, agentic wallets, sentient protocols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731520" cy="548640"/>
          </a:xfrm>
          <a:prstGeom prst="rect">
            <a:avLst/>
          </a:prstGeom>
          <a:solidFill>
            <a:srgbClr val="0A001F"/>
          </a:solidFill>
          <a:ln w="2540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0662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2E93"/>
                </a:solidFill>
                <a:effectLst>
                  <a:glow rad="1270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III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2688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effectLst>
                  <a:glow rad="88900">
                    <a:srgbClr val="FF2E93">
                      <a:alpha val="5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PROTOCOL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29809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A2A · x402 · AP2 · MPP — rails of the agent economy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731520" cy="548640"/>
          </a:xfrm>
          <a:prstGeom prst="rect">
            <a:avLst/>
          </a:prstGeom>
          <a:solidFill>
            <a:srgbClr val="0A001F"/>
          </a:solidFill>
          <a:ln w="25400">
            <a:solidFill>
              <a:srgbClr val="FFE6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7413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E66D"/>
                </a:solidFill>
                <a:effectLst>
                  <a:glow rad="127000">
                    <a:srgbClr val="FFE66D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IV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3355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effectLst>
                  <a:glow rad="88900">
                    <a:srgbClr val="FFE66D">
                      <a:alpha val="5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AGENTIC PAYMENTS BOT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36484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Sentient-AGI's dual-protocol payment skill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731520" cy="548640"/>
          </a:xfrm>
          <a:prstGeom prst="rect">
            <a:avLst/>
          </a:prstGeom>
          <a:solidFill>
            <a:srgbClr val="0A001F"/>
          </a:solidFill>
          <a:ln w="25400">
            <a:solidFill>
              <a:srgbClr val="FF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416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FF"/>
                </a:solidFill>
                <a:effectLst>
                  <a:glow rad="127000">
                    <a:srgbClr val="FF0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V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effectLst>
                  <a:glow rad="88900">
                    <a:srgbClr val="FF00FF">
                      <a:alpha val="5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FUTURE FINANCIAL SYSTEM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economies, pay-per-inference markets, autonomous capital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00F0FF"/>
                </a:solidFill>
                <a:effectLst>
                  <a:glow rad="1524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effectLst>
                  <a:glow rad="228600">
                    <a:srgbClr val="00F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HISTORICAL RETROSPECTIVE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1940s  →  2024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TWO  PARALLEL  DREAMS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ORIGINS  —  1940s → 2008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566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35661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🧠  ARTIFICIAL 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— McCulloch &amp; Pitts: first mathematical neuron.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— Turing proposes the Imitation Game.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 — Dartmouth workshop coins "AI".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— Minsky &amp; Papert kill the perceptron; first AI winter.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 — Backpropagation revived (Rumelhart, Hinton, Williams).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— Deep Blue beats Kasparov; LSTM is born.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— Hinton's deep belief nets reignite the field.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35661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⛓  CRYPTO  &amp;  LEDGERS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 — Diffie–Hellman: public-key cryptography.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 — David Chaum proposes eCash / blind signatures.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 — Haber &amp; Stornetta: cryptographic time-stamping.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— Adam Back: Hashcash proof-of-work.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 — Wei Dai's b-money, Nick Szabo's bit gold.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— Hal Finney's Reusable Proof-of-Work.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— Satoshi's Bitcoin whitepaper drops.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disciplines — one computational, one monetary — circling the same question: can a machine reason, and can a machine remember?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PARALLEL  EVOLUTION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LEARNING  ×  DECENTRALIZED MONEY  —  2009 → 2016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00F0FF"/>
                </a:solidFill>
                <a:effectLst>
                  <a:glow rad="1270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2009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BITCOIN GENESIS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 mined — first trustless digital scarcity goes live.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34440"/>
            <a:ext cx="54864" cy="1600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39FF14"/>
                </a:solidFill>
                <a:effectLst>
                  <a:glow rad="1270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2012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GPU-TRAINED VISION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0756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crushes ImageNet — deep learning hits industrial scale.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34440"/>
            <a:ext cx="54864" cy="160020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258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2E93"/>
                </a:solidFill>
                <a:effectLst>
                  <a:glow rad="1270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2013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ETHEREUM PROPOSED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207568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Vitalik: 'a blockchain with a Turing-complete programming language'.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08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C77DFF"/>
                </a:solidFill>
                <a:effectLst>
                  <a:glow rad="1270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2014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GANs  +  WORD2VEC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38587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go mainstream; language becomes geometry.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3017520"/>
            <a:ext cx="54864" cy="160020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08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E66D"/>
                </a:solidFill>
                <a:effectLst>
                  <a:glow rad="127000">
                    <a:srgbClr val="FFE66D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2015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ETHEREUM MAINNET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38587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ship — programmable money lands.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017520"/>
            <a:ext cx="54864" cy="16002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08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00FF"/>
                </a:solidFill>
                <a:effectLst>
                  <a:glow rad="127000">
                    <a:srgbClr val="FF0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2016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72200" y="3520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ALPHAGO  +  THE DAO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72200" y="38587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beats Lee Sedol; DeFi's first catastrophic hack teaches humility.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revolutions — running in parallel, rarely speaking — each builds primitives the other will soon need.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CONVERGENCE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PATHS  FIRST  CROSSED  —  2017 → 2021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337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33375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AI  SIDE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— 'Attention Is All You Need' introduces the Transformer.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— BERT + GPT-1: pretrained language models arrive.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— GPT-2 withheld, then released — scaling is real.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GPT-3 (175B) turns few-shot learning into a product.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AlphaFold 2 solves 50-year-old protein problem.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DALL·E, Codex: generative AI crosses modalities.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337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33375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BLOCKCHAIN  SIDE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— ICO boom; ERC-20 turns any idea into a token.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— Layer-2 research begins (Plasma, state channels).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DeFi summer: Uniswap, Compound, Aave hit scale.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USDC launches — stablecoin rails solidify.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NFT explosion; on-chain identity becomes real.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Solana, rollups — the speed problem gets solved.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 SIGNAL  →  programmable money needs programmable intelligence — and vice versa.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AGENT  ERA  BEGINS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MODELS  STARTED  DOING  THINGS  —  2022 → 2024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5087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F14"/>
                </a:solidFill>
                <a:effectLst>
                  <a:glow rad="88900">
                    <a:srgbClr val="39FF14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NOV 2022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CHATGPT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0756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users in 60 days — the fastest product adoption in history.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34440"/>
            <a:ext cx="54864" cy="15087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0FF"/>
                </a:solidFill>
                <a:effectLst>
                  <a:glow rad="889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73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CLAUDE / GPT-4 / LLAMA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0756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commoditize; open-weights race begins.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34440"/>
            <a:ext cx="54864" cy="15087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25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E93"/>
                </a:solidFill>
                <a:effectLst>
                  <a:glow rad="88900">
                    <a:srgbClr val="FF2E93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673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AGENTIC FRAMEWORKS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0756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AutoGPT, BabyAGI, LangChain — LLMs become loops, not oracles.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54864" cy="150876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E66D"/>
                </a:solidFill>
                <a:effectLst>
                  <a:glow rad="88900">
                    <a:srgbClr val="FFE66D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TOKENIZED RWAs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3767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Treasuries, real estate, commodities move on-chain at scale.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926080"/>
            <a:ext cx="54864" cy="15087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7DFF"/>
                </a:solidFill>
                <a:effectLst>
                  <a:glow rad="88900">
                    <a:srgbClr val="C77D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NOV 2024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MCP LAUNCHES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3767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ships Model Context Protocol — tool use standardized.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926080"/>
            <a:ext cx="54864" cy="150876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017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00FF"/>
                </a:solidFill>
                <a:effectLst>
                  <a:glow rad="88900">
                    <a:srgbClr val="FF0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33649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CRYPTO-AI CONVERGENCE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72200" y="37673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Sentient, Bittensor, Fetch — AI networks settle on blockchain.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2024, AI models are agents. Blockchain rails are real. The only missing piece: a way for them to pay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39FF14"/>
                </a:solidFill>
                <a:effectLst>
                  <a:glow rad="1524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effectLst>
                  <a:glow rad="254000">
                    <a:srgbClr val="39FF14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CURRENT STATE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FFE66D"/>
                </a:solidFill>
                <a:effectLst>
                  <a:glow rad="101600">
                    <a:srgbClr val="FFE66D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2025  //  2026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STATE  OF  THE  UNION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AI  AND  BLOCKCHAIN  STAND  — 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00F0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$600M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x402 annualized volume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119M tx on Base · 35M on Solana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5544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39FF14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97M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4612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MCP SDK downloads /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100K in Nov 2024 → 97M in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5544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FF2E93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60+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AP2 protocol partners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3500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· Amex · PayPal · Coinbase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7DFF"/>
                </a:solidFill>
                <a:effectLst>
                  <a:glow rad="76200">
                    <a:srgbClr val="C77DFF">
                      <a:alpha val="80000"/>
                    </a:srgbClr>
                  </a:glow>
                </a:effectLst>
              </a:rPr>
              <a:t>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AGENTIC WALLETS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9718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hold &amp; control their own keys — via KMS (Turnkey, AWS), embedded wallets (Privy), or smart accounts (EIP-4337).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54864" cy="59436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57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66D"/>
                </a:solidFill>
                <a:effectLst>
                  <a:glow rad="76200">
                    <a:srgbClr val="FFE66D">
                      <a:alpha val="80000"/>
                    </a:srgbClr>
                  </a:glow>
                </a:effectLst>
              </a:rPr>
              <a:t>◆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TOKENIZED COMPUTE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6576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time and model inference trade on-chain — Bittensor, Akash, io.net, Render settle in their own tokens.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FF"/>
                </a:solidFill>
                <a:effectLst>
                  <a:glow rad="76200">
                    <a:srgbClr val="FF00FF">
                      <a:alpha val="80000"/>
                    </a:srgbClr>
                  </a:glow>
                </a:effectLst>
              </a:rPr>
              <a:t>◆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STANDARDS CONSOLIDATION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43434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AI Agent governance. MCP + A2A unified. Visa &amp; Mastercard join the agentic stack.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effectLst>
                  <a:glow rad="1524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CASE STUDY : SENTIENT PROTOCOL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 AI  ×  ON-CHAIN OWNERSHIP  —  a blueprint for the open AGI economy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520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35204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7DFF"/>
                </a:solidFill>
                <a:effectLst>
                  <a:glow rad="88900">
                    <a:srgbClr val="C77D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PROBLEM  IT  SOLVES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LLMs own the value chain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Google capture revenue. Open-source contributors get nothing.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ownership, no provenance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weights leak, there's no way to trace usage or pay authors.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incentive to compose or improve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 base model = free labor for the original lab.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520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352044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66D"/>
                </a:solidFill>
                <a:effectLst>
                  <a:glow rad="88900">
                    <a:srgbClr val="FFE66D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OML  FRAMEWORK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public. Anyone can deploy, audit, or fine-tune.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MONETIZABLE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fingerprints + on-chain ledger track every inference call; smart contracts distribute fees to contributors.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LOYAL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respond only to authorized callers. TEE attestation (AWS Nitro Enclaves) ensures no silent theft.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protocol layers  ·  Storage  →  Distribution  →  Access  →  Incentive     (smart contracts route every cent)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FF2E93"/>
                </a:solidFill>
                <a:effectLst>
                  <a:glow rad="1524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III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effectLst>
                  <a:glow rad="2540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PROTOCOL STACK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5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MCP  ·  A2A  ·  x402  ·  AP2  ·  MPP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0F0FF"/>
                </a:solidFill>
                <a:effectLst>
                  <a:glow rad="228600">
                    <a:srgbClr val="00F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MCP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76200">
                    <a:srgbClr val="00F0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MODEL CONTEXT PROTOCOL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 ·  Nov 2024  ·  the data / context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SEPARATE FROM PAYMENTS  —  MCP is the connective tissue for AI ↔ data and tools, not for value transfer.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23360" cy="29718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29718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WHAT  IT  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"USB-C for AI applications"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client–server protocol that lets any LLM securely connect to any external data source, tool, API, or other AI system — without custom integrations.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 (Claude, Cursor, IDE)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(protocol handler)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2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(exposes Tools · Resources · Prompts)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29718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28800"/>
            <a:ext cx="54864" cy="29718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74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7DFF"/>
                </a:solidFill>
                <a:effectLst>
                  <a:glow rad="76200">
                    <a:srgbClr val="C77D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WHY  IT  MATTERS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703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M × N problem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models × M tools no longer = N×M custom glue. One standard, many servers.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integration layer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sits on top, tools underneath. MCP makes the vertical connection.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Donated to Linux Foundation's Agentic AI Foundation alongside A2A.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+ CONTEXT — that's MCP's lane.  Payments live on the stack above.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C77DFF"/>
                </a:solidFill>
                <a:effectLst>
                  <a:glow rad="228600">
                    <a:srgbClr val="C77D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A2A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76200">
                    <a:srgbClr val="C77D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 - TO - AGENT PROTOCOL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 ·  April 2025  ·  the horizontal / collaboration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13716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F0FF"/>
                </a:solidFill>
                <a:effectLst>
                  <a:glow rad="889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 CARDS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manifest at /.well-known/agent.json — an agent's digital business card: skills, endpoint, auth.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80160"/>
            <a:ext cx="4023360" cy="13716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280160"/>
            <a:ext cx="54864" cy="137160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2E93"/>
                </a:solidFill>
                <a:effectLst>
                  <a:glow rad="889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TASKS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a stateful Task object with a lifecycle — from quick lookups to multi-day workflows.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3716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54864" cy="13716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9FF14"/>
                </a:solidFill>
                <a:effectLst>
                  <a:glow rad="889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MESSAGES &amp; PARTS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2644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messages carry text, JSON, files, even generated images across the agent mesh.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788920"/>
            <a:ext cx="4023360" cy="13716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788920"/>
            <a:ext cx="54864" cy="137160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E66D"/>
                </a:solidFill>
                <a:effectLst>
                  <a:glow rad="88900">
                    <a:srgbClr val="FFE66D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TRANSPORTS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32644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HTTP + SSE + JSON-RPC — OAuth 2.0, PKCE, API keys out of the box. No reinventing.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6858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E93"/>
                </a:solidFill>
                <a:effectLst>
                  <a:glow rad="1270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MCP ≠ A2A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43200" y="43891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one agent DOWN to tools and data.  A2A connects agents ACROSS to each other.  Google: "A2A complements MCP."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2E93"/>
                </a:solidFill>
                <a:effectLst>
                  <a:glow rad="2286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effectLst>
                  <a:glow rad="76200">
                    <a:srgbClr val="FF2E93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HTTP - NATIVE STABLECOIN PAYMENTS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Coinbase  ·  May 2025  ·  reviving the dormant HTTP 402 code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HANDSHAKE  /  FIVE 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627632" cy="1920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a gated endpoint (agent or human).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1508760"/>
            <a:ext cx="1627632" cy="1920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581912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67712" y="2011680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67712" y="2350008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 402 Payment Required + PAYMENT-REQUIRED header.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95344" y="1508760"/>
            <a:ext cx="1627632" cy="1920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1581912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C77DFF"/>
                </a:solidFill>
                <a:effectLst>
                  <a:glow rad="101600">
                    <a:srgbClr val="C77D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86784" y="2011680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86784" y="2350008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constructs a payment payload, signs with its wallet.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14416" y="1508760"/>
            <a:ext cx="1627632" cy="1920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1581912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E66D"/>
                </a:solidFill>
                <a:effectLst>
                  <a:glow rad="101600">
                    <a:srgbClr val="FFE66D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05856" y="2011680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VERIFY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05856" y="2350008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verifies on-chain; EIP-3009 (USDC) or Permit2.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33488" y="1508760"/>
            <a:ext cx="1627632" cy="1920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581912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39FF14"/>
                </a:solidFill>
                <a:effectLst>
                  <a:glow rad="101600">
                    <a:srgbClr val="39FF14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4928" y="2011680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DELIVER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24928" y="2350008"/>
            <a:ext cx="1444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200 + resource + PAYMENT-RESPONSE receipt header.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1993392" cy="10058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216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$0.0001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423367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per-tx settlement cost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42032" y="3611880"/>
            <a:ext cx="1993392" cy="10058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37216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&lt; 2 sec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33472" y="423367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finality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26864" y="3611880"/>
            <a:ext cx="1993392" cy="10058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37216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ZERO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18304" y="423367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fees (only gas)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11696" y="3611880"/>
            <a:ext cx="1993392" cy="10058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11696" y="372160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5+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03136" y="4233672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networks: Base · ETH · Polygon · Arbitrum · Solana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the Linux/Cloudflare x402 Foundation  ·  supported by AWS Bedrock, Cloudflare Workers, Vercel, Google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39FF14"/>
                </a:solidFill>
                <a:effectLst>
                  <a:glow rad="228600">
                    <a:srgbClr val="39FF14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AP2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76200">
                    <a:srgbClr val="39FF14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 PAYMENTS PROTOCOL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+ 60 partners  ·  Sep 2025  ·  the trust / authorization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THREE  CRYPTOGRAPHICALLY  SIGNED  MANDATES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51760" cy="2331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" cy="2331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effectLst>
                  <a:glow rad="76200">
                    <a:srgbClr val="00F0FF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INTENT  MANDATE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"Buy running shoes under $100."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user's initial intent — spending ceiling, timing, and constraints. Signed by the user upfront.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651760" cy="2331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600200"/>
            <a:ext cx="54864" cy="233172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effectLst>
                  <a:glow rad="76200">
                    <a:srgbClr val="FF2E93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CART  MANDATE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Locks specific items + final price.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834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agent finds a match, the merchant cryptographically signs the cart — a guarantee of fulfillment.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600200"/>
            <a:ext cx="2651760" cy="2331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600200"/>
            <a:ext cx="54864" cy="233172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effectLst>
                  <a:glow rad="76200">
                    <a:srgbClr val="FFE66D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PAYMENT  MANDATE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2377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Authorizes actual settlement.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2834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payment network. Signals agent-presence to help issuers assess risk and route rails.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PAYMENT-AGNOSTIC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· bank rails · stablecoins (via A2A x402 extension)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non-repudiable chain of cryptographic evidence: intent → cart → payment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for transport · MCP for context · compatible with Visa, Mastercard, PayPal flows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C77DFF"/>
                </a:solidFill>
                <a:effectLst>
                  <a:glow rad="228600">
                    <a:srgbClr val="C77D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MPP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76200">
                    <a:srgbClr val="C77D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MACHINE PAYMENTS PROTOCOL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 + Tempo Labs  ·  March 2026  ·  IETF Standards Track draft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First payment protocol designed for an entity with no psychology — no checkout, no cart abandonment, no mental transaction cost.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" cy="10515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933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SESSIONS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3317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pre-authorizes a spending budget once. Then streams thousands of signed micropayments off-chain → one on-chain settlement.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92024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920240"/>
            <a:ext cx="54864" cy="10515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9933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E93"/>
                </a:solidFill>
                <a:effectLst>
                  <a:glow rad="762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METHOD-AGNOSTIC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82312" y="23317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 (Tempo L1), fiat via Stripe's Shared Payment Tokens, Bitcoin Lightning, Visa cards — all via one HTTP interface.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54864" cy="10515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18211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NO FACILITATOR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35204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eliminates the x402 facilitator. Payment verification is a first-class primitive of the protocol itself.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108960"/>
            <a:ext cx="54864" cy="1051560"/>
          </a:xfrm>
          <a:prstGeom prst="rect">
            <a:avLst/>
          </a:prstGeom>
          <a:solidFill>
            <a:srgbClr val="FF3377"/>
          </a:solidFill>
          <a:ln w="12700">
            <a:solidFill>
              <a:srgbClr val="FF3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18211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3377"/>
                </a:solidFill>
                <a:effectLst>
                  <a:glow rad="76200">
                    <a:srgbClr val="FF3377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BACKWARD-COMPAT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82312" y="35204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Backward-compatible with x402's charge flow. MPP clients can consume existing x402 services unchanged.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Day-one adopters:  OpenAI · Anthropic · Google Gemini · Dune · Browserbase · Parallel · Visa · Mastercard · Lightspark   →   100+ listed services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MPP sits at the settlement + session layer.  AP2 is the trust layer above.  MCP is the context layer beside it.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FULL 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 THE  FIVE  PROTOCOLS  COMPOSE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6035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07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39FF14"/>
                </a:solidFill>
                <a:effectLst>
                  <a:glow rad="127000">
                    <a:srgbClr val="39FF14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AP2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06040" y="12893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INTENT  &amp;  TRUST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53619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· verifiable credentials · accountability chain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9384"/>
            <a:ext cx="54864" cy="60350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2082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0025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C77DFF"/>
                </a:solidFill>
                <a:effectLst>
                  <a:glow rad="127000">
                    <a:srgbClr val="C77D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A2A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1984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 COLLABORATION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23113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 · tasks · multi-part messages across vendors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24328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24328"/>
            <a:ext cx="54864" cy="603504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1576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00FF"/>
                </a:solidFill>
                <a:effectLst>
                  <a:glow rad="127000">
                    <a:srgbClr val="FF0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MPP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606040" y="26791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SETTLEMENT  &amp;  SESSIONS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292608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micropayments · fiat + stablecoin via one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19272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9272"/>
            <a:ext cx="54864" cy="603504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10712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3924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2E93"/>
                </a:solidFill>
                <a:effectLst>
                  <a:glow rad="1270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606040" y="33741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PAYMENT  HANDSHAKE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3621024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· on-chain USDC in sub-2-second finality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14216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14216"/>
            <a:ext cx="54864" cy="60350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0565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0873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00F0FF"/>
                </a:solidFill>
                <a:effectLst>
                  <a:glow rad="1270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MCP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60604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CONTEXT  &amp;  TOOLS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06040" y="4315968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· tool invocation · per-model context plumbing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300" kern="0" dirty="0">
                <a:solidFill>
                  <a:srgbClr val="FF2E93"/>
                </a:solidFill>
                <a:effectLst>
                  <a:glow rad="88900">
                    <a:srgbClr val="FF2E93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flows up.  Money flows down.  Agents plug into both ends.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C77DFF"/>
                </a:solidFill>
                <a:effectLst>
                  <a:glow rad="1524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effectLst>
                  <a:glow rad="254000">
                    <a:srgbClr val="C77D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AGENTIC PAYMENTS 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FE66D"/>
                </a:solidFill>
                <a:effectLst>
                  <a:glow rad="88900">
                    <a:srgbClr val="FFE66D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SENTIENT-AGI  ·  github.com/sentient-agi/agentic-payments-bot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 - PAYMENTS - SKILL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DUAL-PROTOCOL  PAYMENT  SKILL  FOR  THE  OPEN  AGENT  SKILLS  ECOSYSTEM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dual-protocol (x402 + AP2) agentic payment service enabling AI agents to autonomously initiate, validate, and execute payments across blockchain (web3) and traditional (web2) rails — with AWS KMS key management, a policy engine, audit trail, and human-in-the-loop confirmation.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1188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F0FF"/>
                </a:solidFill>
                <a:effectLst>
                  <a:glow rad="76200">
                    <a:srgbClr val="00F0FF">
                      <a:alpha val="85000"/>
                    </a:srgbClr>
                  </a:glow>
                </a:effectLst>
              </a:rPr>
              <a:t>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DUAL PROTOCOL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x402 (web3) + AP2 (web2/cards) in one skill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65176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103120"/>
            <a:ext cx="54864" cy="118872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2E93"/>
                </a:solidFill>
                <a:effectLst>
                  <a:glow rad="76200">
                    <a:srgbClr val="FF2E93">
                      <a:alpha val="85000"/>
                    </a:srgbClr>
                  </a:glow>
                </a:effectLst>
              </a:rPr>
              <a:t>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AWS KMS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10712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never leave the hardware module; ECDSA signing via KMS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65176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103120"/>
            <a:ext cx="54864" cy="118872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E66D"/>
                </a:solidFill>
                <a:effectLst>
                  <a:glow rad="76200">
                    <a:srgbClr val="FFE66D">
                      <a:alpha val="85000"/>
                    </a:srgbClr>
                  </a:glow>
                </a:effectLst>
              </a:rPr>
              <a:t>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POLICY ENGINE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99632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Per-tx limits · daily/weekly/monthly aggregates · blacklists · time windows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265176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54864" cy="1188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FF14"/>
                </a:solidFill>
                <a:effectLst>
                  <a:glow rad="76200">
                    <a:srgbClr val="39FF14">
                      <a:alpha val="85000"/>
                    </a:srgbClr>
                  </a:glow>
                </a:effectLst>
              </a:rPr>
              <a:t>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3520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MULTI-GATEWAY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for EVM · Stripe · PayPal · Visa · Mastercard — one router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429000"/>
            <a:ext cx="265176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429000"/>
            <a:ext cx="54864" cy="118872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7DFF"/>
                </a:solidFill>
                <a:effectLst>
                  <a:glow rad="76200">
                    <a:srgbClr val="C77DFF">
                      <a:alpha val="85000"/>
                    </a:srgbClr>
                  </a:glow>
                </a:effectLst>
              </a:rPr>
              <a:t>◉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86200" y="3520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10712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 immutable log · every state transition captured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429000"/>
            <a:ext cx="265176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3429000"/>
            <a:ext cx="54864" cy="118872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00FF"/>
                </a:solidFill>
                <a:effectLst>
                  <a:glow rad="76200">
                    <a:srgbClr val="FF00FF">
                      <a:alpha val="85000"/>
                    </a:srgbClr>
                  </a:glow>
                </a:effectLst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75120" y="3520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99632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confirmation thresholds · agent alone or with approval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1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Compatible clients:  Claude Code · Codex · Junie · OpenCode · GitHub Copilot · Gemini CLI · OpenClaw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4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AGENT  INTENT  TO  SETTLED  PAYMENT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0FF"/>
                </a:solidFill>
                <a:effectLst>
                  <a:glow rad="88900">
                    <a:srgbClr val="00F0FF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OUTPUT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emits paymentIntent JSON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72768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64208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DFF"/>
                </a:solidFill>
                <a:effectLst>
                  <a:glow rad="88900">
                    <a:srgbClr val="C77DFF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09928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ZOD VALIDATE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09928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type safety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79776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71216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E93"/>
                </a:solidFill>
                <a:effectLst>
                  <a:glow rad="88900">
                    <a:srgbClr val="FF2E93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16936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PROTOCOL ROUTER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16936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if web3  ·  AP2 if web2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86784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78224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66D"/>
                </a:solidFill>
                <a:effectLst>
                  <a:glow rad="88900">
                    <a:srgbClr val="FFE66D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23944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POLICY ENGINE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23944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· time · blacklist · YAML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93792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85232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effectLst>
                  <a:glow rad="88900">
                    <a:srgbClr val="39FF14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30952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HITL GATE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30952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Threshold? → await human approval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377"/>
                </a:solidFill>
                <a:effectLst>
                  <a:glow rad="88900">
                    <a:srgbClr val="FF3377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KMS SIGN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 ECDSA signature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07808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99248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FF"/>
                </a:solidFill>
                <a:effectLst>
                  <a:glow rad="88900">
                    <a:srgbClr val="FF00FF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44968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EXECUTE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44968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/ Stripe / PayPal settle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0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TRANSACTION  STATE  MACHINE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14884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policy_check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4048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awaiting_confirmation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9496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3212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8660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2376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3977640"/>
            <a:ext cx="1554480" cy="457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rejected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69280" y="3977640"/>
            <a:ext cx="1554480" cy="457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failed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572000"/>
            <a:ext cx="402336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 ·  transactions (id · protocol · gateway · amount · status · tx_hash · violations)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4572000"/>
            <a:ext cx="402336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 ·  audit_log (timestamp · level · category · action · actor · details)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HOW  THE  TWO  RAILS 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4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 THE  DUAL-PROTOCOL  ENGINE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47472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2E93"/>
                </a:solidFill>
                <a:effectLst>
                  <a:glow rad="889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  ·  WEB3  RAIL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402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PAYMENT-REQUIRED header to find accepted networks + tokens.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Payment Payload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scheme (exact, deferred). Currently: Base, Polygon, Arbitrum, Solana.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via KMS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 ECDSA — private key never in memory. Viem handles broadcast.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PAYMENT-SIGNATURE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verifies, server returns resource + receipt header.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347472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E66D"/>
                </a:solidFill>
                <a:effectLst>
                  <a:glow rad="88900">
                    <a:srgbClr val="FFE66D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AP2  ·  WEB2  RAIL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6576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Mandate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PaymentIntent build an AP2 Intent Mandate: amount · window · delegator.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Mandate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 credential provider — ECDSA-based verifiable credential signed by user.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Credentials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creds fetched for the chosen gateway (Stripe · PayPal · Visa · MC).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Charge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adapter pulls funds, returns tx_id + status, all logged.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ENGINE runs BEFORE both flows  —  no signature is produced if a rule violates, and violations are recorded in the audit log.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FF00FF"/>
                </a:solidFill>
                <a:effectLst>
                  <a:glow rad="152400">
                    <a:srgbClr val="FF0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400" kern="0" dirty="0">
                <a:solidFill>
                  <a:srgbClr val="FFFFFF"/>
                </a:solidFill>
                <a:effectLst>
                  <a:glow rad="228600">
                    <a:srgbClr val="FF0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FUTURE FINANCIAL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A MACHINE ECONOMY AT THE SPEED OF LIGHT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effectLst>
                  <a:glow rad="177800">
                    <a:srgbClr val="FF0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MACHINE  ECONOMY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4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 HAPPENS  WHEN  AGENTS  CAN  TRANSACT  WITHOUT  US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69164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0FF"/>
                </a:solidFill>
                <a:effectLst>
                  <a:glow rad="88900">
                    <a:srgbClr val="00F0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FROM  SUBSCRIPTIONS  →  PAY-PER-TOKEN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tolerate flat fees. APIs price by the kilobyte, the query, the inference. Monthly tiers evaporate.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40233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234440"/>
            <a:ext cx="54864" cy="16916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effectLst>
                  <a:glow rad="88900">
                    <a:srgbClr val="39FF14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FROM  CHECKOUT  CARTS  →  STREAMING  PAYMENTS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 sessions authorize a budget once and pay as the agent consumes — no cart, no click, no abandonment.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16916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7DFF"/>
                </a:solidFill>
                <a:effectLst>
                  <a:glow rad="88900">
                    <a:srgbClr val="C77D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FROM  KYC  →  KNOW  YOUR 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(JWT · ERC-8004 · Skyfire KYA) replaces account signup. Verified agents get paid. Bots get blocked.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40233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3063240"/>
            <a:ext cx="54864" cy="169164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004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66D"/>
                </a:solidFill>
                <a:effectLst>
                  <a:glow rad="88900">
                    <a:srgbClr val="FFE66D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FROM  CAPITAL  ALLOCATION  →  AUTONOMOUS  TREASURY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931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holding their own wallets hire other agents, buy compute, rebalance portfolios — all under policy guardrails.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Rebuilt on two primitives: cryptographic intent + programmable settlement.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NEW  ECONOMIC  PARADIGMS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4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 THAT  WEREN'T  POSSIBLE  BEFORE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INFERENCE  MARKETS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bid for your query. Router picks cheapest that meets your spec. Paid per-token, on-chain.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234440"/>
            <a:ext cx="54864" cy="160020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44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E93"/>
                </a:solidFill>
                <a:effectLst>
                  <a:glow rad="762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DATA  AS  AN  ASSET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sold per row. Provenance traced on-chain. Contributors paid continuously as models train on their 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234440"/>
            <a:ext cx="54864" cy="1600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344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COMPUTE  FUTURES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hours tokenized and traded. Prices discover themselves. Agents hedge inference costs like airlines hedge fuel.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E66D"/>
                </a:solidFill>
                <a:effectLst>
                  <a:glow rad="76200">
                    <a:srgbClr val="FFE66D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AGENT-TO-AGENT  DeFi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provide liquidity to other agents. Lending, collateral, and swaps happen entirely among machine counterparties.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017520"/>
            <a:ext cx="54864" cy="1600200"/>
          </a:xfrm>
          <a:prstGeom prst="rect">
            <a:avLst/>
          </a:prstGeom>
          <a:solidFill>
            <a:srgbClr val="FF3377"/>
          </a:solidFill>
          <a:ln w="12700">
            <a:solidFill>
              <a:srgbClr val="FF3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1272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377"/>
                </a:solidFill>
                <a:effectLst>
                  <a:glow rad="76200">
                    <a:srgbClr val="FF3377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MICRO-COMMERCE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6118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$0.0001 reads become viable. Every paragraph paywalled. Every crawl monetized. Every API call its own micro-economy.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5176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017520"/>
            <a:ext cx="54864" cy="160020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1272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00FF"/>
                </a:solidFill>
                <a:effectLst>
                  <a:glow rad="76200">
                    <a:srgbClr val="FF0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DELEGATED  CAPITAL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6118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signs: "rebalance my portfolio, keep ≥$5k USDC, don't exceed 10% risk". Agent executes for months unattended.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of these requires:  identity + policy + payment + settlement  —  the full protocol stack we just walked through.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20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00F0FF"/>
                </a:solidFill>
                <a:effectLst>
                  <a:glow rad="88900">
                    <a:srgbClr val="00F0FF">
                      <a:alpha val="7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END  OF  TRANSMISSION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200" kern="0" dirty="0">
                <a:solidFill>
                  <a:srgbClr val="FFFFFF"/>
                </a:solidFill>
                <a:effectLst>
                  <a:glow rad="3048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HORIZON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AI + Blockchain is no longer two fields.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substrate for machine-native commerce — already live, already settling.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210312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136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0F0FF"/>
                </a:solidFill>
                <a:effectLst>
                  <a:glow rad="1270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· A2A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3063240"/>
            <a:ext cx="210312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136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C77DFF"/>
                </a:solidFill>
                <a:effectLst>
                  <a:glow rad="1270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TRUST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AP2 mandates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10312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136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2E93"/>
                </a:solidFill>
                <a:effectLst>
                  <a:glow rad="1270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SETTLE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x402 · MPP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300" kern="0" dirty="0">
                <a:solidFill>
                  <a:srgbClr val="FFE66D"/>
                </a:solidFill>
                <a:effectLst>
                  <a:glow rad="101600">
                    <a:srgbClr val="FFE66D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The agents are here.  The rails are live.  The economy is bootstrapping itself.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0" kern="0" dirty="0">
                <a:solidFill>
                  <a:srgbClr val="FFFFFF"/>
                </a:solidFill>
                <a:effectLst>
                  <a:glow rad="177800">
                    <a:srgbClr val="FF0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▒  THANK  YOU  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AI + Blockchain</dc:title>
  <dc:subject>PptxGenJS Presentation</dc:subject>
  <dc:creator>Claude</dc:creator>
  <cp:lastModifiedBy>Claude</cp:lastModifiedBy>
  <cp:revision>1</cp:revision>
  <dcterms:created xsi:type="dcterms:W3CDTF">2026-04-23T23:06:19Z</dcterms:created>
  <dcterms:modified xsi:type="dcterms:W3CDTF">2026-04-23T23:06:19Z</dcterms:modified>
</cp:coreProperties>
</file>